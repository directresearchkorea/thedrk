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131" r:id="rId2"/>
    <p:sldId id="1130" r:id="rId3"/>
    <p:sldId id="1138" r:id="rId4"/>
    <p:sldId id="1136" r:id="rId5"/>
    <p:sldId id="1137" r:id="rId6"/>
    <p:sldId id="1125" r:id="rId7"/>
  </p:sldIdLst>
  <p:sldSz cx="9648825" cy="6570663"/>
  <p:notesSz cx="9996488" cy="68643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159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31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479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63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5797" algn="l" defTabSz="91431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2956" algn="l" defTabSz="91431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116" algn="l" defTabSz="91431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276" algn="l" defTabSz="91431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8FCC55A-F5B0-4209-8EE2-37A833D7B741}">
          <p14:sldIdLst>
            <p14:sldId id="1131"/>
            <p14:sldId id="1130"/>
            <p14:sldId id="1138"/>
            <p14:sldId id="1136"/>
            <p14:sldId id="1137"/>
            <p14:sldId id="1125"/>
          </p14:sldIdLst>
        </p14:section>
        <p14:section name="제목 없는 구역" id="{A2F08121-83EE-4258-8FA4-964CAC2370B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60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2">
          <p15:clr>
            <a:srgbClr val="A4A3A4"/>
          </p15:clr>
        </p15:guide>
        <p15:guide id="2" pos="314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95959"/>
    <a:srgbClr val="800000"/>
    <a:srgbClr val="4BBDC9"/>
    <a:srgbClr val="FF6600"/>
    <a:srgbClr val="FFFFFF"/>
    <a:srgbClr val="D9D9D9"/>
    <a:srgbClr val="A6A6A6"/>
    <a:srgbClr val="F8E6DA"/>
    <a:srgbClr val="F8E600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23" autoAdjust="0"/>
    <p:restoredTop sz="99885" autoAdjust="0"/>
  </p:normalViewPr>
  <p:slideViewPr>
    <p:cSldViewPr showGuides="1">
      <p:cViewPr varScale="1">
        <p:scale>
          <a:sx n="99" d="100"/>
          <a:sy n="99" d="100"/>
        </p:scale>
        <p:origin x="498" y="90"/>
      </p:cViewPr>
      <p:guideLst>
        <p:guide orient="horz"/>
        <p:guide pos="607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8" d="100"/>
          <a:sy n="88" d="100"/>
        </p:scale>
        <p:origin x="-1998" y="-114"/>
      </p:cViewPr>
      <p:guideLst>
        <p:guide orient="horz" pos="2162"/>
        <p:guide pos="314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32901" cy="343602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61254" y="1"/>
            <a:ext cx="4332901" cy="343602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r">
              <a:defRPr sz="1200"/>
            </a:lvl1pPr>
          </a:lstStyle>
          <a:p>
            <a:fld id="{E846ACB4-DE8B-4D84-8A89-92948A1BF756}" type="datetimeFigureOut">
              <a:rPr lang="ko-KR" altLang="en-US" smtClean="0"/>
              <a:pPr/>
              <a:t>2026-06-24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9651"/>
            <a:ext cx="4332901" cy="343601"/>
          </a:xfrm>
          <a:prstGeom prst="rect">
            <a:avLst/>
          </a:prstGeom>
        </p:spPr>
        <p:txBody>
          <a:bodyPr vert="horz" lIns="92181" tIns="46090" rIns="92181" bIns="4609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61254" y="6519651"/>
            <a:ext cx="4332901" cy="343601"/>
          </a:xfrm>
          <a:prstGeom prst="rect">
            <a:avLst/>
          </a:prstGeom>
        </p:spPr>
        <p:txBody>
          <a:bodyPr vert="horz" lIns="92181" tIns="46090" rIns="92181" bIns="46090" rtlCol="0" anchor="b"/>
          <a:lstStyle>
            <a:lvl1pPr algn="r">
              <a:defRPr sz="1200"/>
            </a:lvl1pPr>
          </a:lstStyle>
          <a:p>
            <a:fld id="{3A91DCC3-8B66-452F-B444-B239CA0E43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51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32901" cy="343602"/>
          </a:xfrm>
          <a:prstGeom prst="rect">
            <a:avLst/>
          </a:prstGeom>
        </p:spPr>
        <p:txBody>
          <a:bodyPr vert="horz" lIns="92175" tIns="46087" rIns="92175" bIns="4608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61254" y="1"/>
            <a:ext cx="4332901" cy="343602"/>
          </a:xfrm>
          <a:prstGeom prst="rect">
            <a:avLst/>
          </a:prstGeom>
        </p:spPr>
        <p:txBody>
          <a:bodyPr vert="horz" lIns="92175" tIns="46087" rIns="92175" bIns="46087" rtlCol="0"/>
          <a:lstStyle>
            <a:lvl1pPr algn="r">
              <a:defRPr sz="1200"/>
            </a:lvl1pPr>
          </a:lstStyle>
          <a:p>
            <a:fld id="{CBD4F560-9574-4D64-9F26-FEA6CD50371F}" type="datetimeFigureOut">
              <a:rPr lang="ko-KR" altLang="en-US" smtClean="0"/>
              <a:pPr/>
              <a:t>2026-06-24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08325" y="514350"/>
            <a:ext cx="3779838" cy="2574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75" tIns="46087" rIns="92175" bIns="4608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9184" y="3260375"/>
            <a:ext cx="7998125" cy="3089122"/>
          </a:xfrm>
          <a:prstGeom prst="rect">
            <a:avLst/>
          </a:prstGeom>
        </p:spPr>
        <p:txBody>
          <a:bodyPr vert="horz" lIns="92175" tIns="46087" rIns="92175" bIns="4608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9652"/>
            <a:ext cx="4332901" cy="343601"/>
          </a:xfrm>
          <a:prstGeom prst="rect">
            <a:avLst/>
          </a:prstGeom>
        </p:spPr>
        <p:txBody>
          <a:bodyPr vert="horz" lIns="92175" tIns="46087" rIns="92175" bIns="4608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61254" y="6519652"/>
            <a:ext cx="4332901" cy="343601"/>
          </a:xfrm>
          <a:prstGeom prst="rect">
            <a:avLst/>
          </a:prstGeom>
        </p:spPr>
        <p:txBody>
          <a:bodyPr vert="horz" lIns="92175" tIns="46087" rIns="92175" bIns="46087" rtlCol="0" anchor="b"/>
          <a:lstStyle>
            <a:lvl1pPr algn="r">
              <a:defRPr sz="1200"/>
            </a:lvl1pPr>
          </a:lstStyle>
          <a:p>
            <a:fld id="{DC19E59A-24EB-4F10-9E7A-F54554D1BD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34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9" algn="l" defTabSz="91431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8" algn="l" defTabSz="91431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9" algn="l" defTabSz="91431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8" algn="l" defTabSz="91431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7" algn="l" defTabSz="91431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6" algn="l" defTabSz="91431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16" algn="l" defTabSz="91431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76" algn="l" defTabSz="91431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558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5"/>
          <p:cNvSpPr txBox="1">
            <a:spLocks/>
          </p:cNvSpPr>
          <p:nvPr userDrawn="1"/>
        </p:nvSpPr>
        <p:spPr>
          <a:xfrm>
            <a:off x="9197392" y="6421612"/>
            <a:ext cx="3863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defTabSz="8381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dirty="0">
                <a:solidFill>
                  <a:srgbClr val="59595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76FD5DD6-64EB-492A-86FE-42C6246AB850}" type="slidenum">
              <a:rPr lang="en-US" altLang="ko-KR" sz="800">
                <a:solidFill>
                  <a:srgbClr val="59595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 defTabSz="83812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ko-KR" sz="800" dirty="0">
                <a:solidFill>
                  <a:srgbClr val="59595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120" y="92439"/>
            <a:ext cx="9117458" cy="30777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kumimoji="1" lang="ko-KR" altLang="en-US" sz="2000" b="1" kern="1200">
                <a:solidFill>
                  <a:srgbClr val="336699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252677" y="663679"/>
            <a:ext cx="9116903" cy="2031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0643" indent="-220643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Tx/>
              <a:buBlip>
                <a:blip r:embed="rId3"/>
              </a:buBlip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Blip>
                <a:blip r:embed="rId3"/>
              </a:buBlip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Blip>
                <a:blip r:embed="rId3"/>
              </a:buBlip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Blip>
                <a:blip r:embed="rId3"/>
              </a:buBlip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Blip>
                <a:blip r:embed="rId3"/>
              </a:buBlip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5492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_빈페이지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5"/>
          <p:cNvSpPr txBox="1">
            <a:spLocks/>
          </p:cNvSpPr>
          <p:nvPr userDrawn="1"/>
        </p:nvSpPr>
        <p:spPr>
          <a:xfrm>
            <a:off x="9197392" y="6421612"/>
            <a:ext cx="3863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defTabSz="8381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dirty="0">
                <a:solidFill>
                  <a:srgbClr val="59595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76FD5DD6-64EB-492A-86FE-42C6246AB850}" type="slidenum">
              <a:rPr lang="en-US" altLang="ko-KR" sz="800">
                <a:solidFill>
                  <a:srgbClr val="59595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 defTabSz="83812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ko-KR" sz="800" dirty="0">
                <a:solidFill>
                  <a:srgbClr val="59595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120" y="92439"/>
            <a:ext cx="9117458" cy="30777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kumimoji="1" lang="ko-KR" altLang="en-US" sz="2000" b="1" kern="1200">
                <a:solidFill>
                  <a:srgbClr val="336699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4924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blipFill dpi="0" rotWithShape="1">
          <a:blip r:embed="rId2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blipFill dpi="0" rotWithShape="1">
          <a:blip r:embed="rId2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23663" y="2041167"/>
            <a:ext cx="8201501" cy="1408434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7324" y="3723378"/>
            <a:ext cx="6754178" cy="16791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82442" y="6090034"/>
            <a:ext cx="2251393" cy="349827"/>
          </a:xfrm>
          <a:prstGeom prst="rect">
            <a:avLst/>
          </a:prstGeom>
        </p:spPr>
        <p:txBody>
          <a:bodyPr/>
          <a:lstStyle/>
          <a:p>
            <a:fld id="{A12BFD6E-EA8A-4FFD-B87E-46418ED336BB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/>
              <a:t>2026-06-24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296683" y="6090034"/>
            <a:ext cx="3055461" cy="349827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14992" y="6090034"/>
            <a:ext cx="2251393" cy="349827"/>
          </a:xfrm>
          <a:prstGeom prst="rect">
            <a:avLst/>
          </a:prstGeom>
        </p:spPr>
        <p:txBody>
          <a:bodyPr/>
          <a:lstStyle/>
          <a:p>
            <a:fld id="{11487F0F-D929-492A-9373-E6CA12974282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997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2" r:id="rId3"/>
    <p:sldLayoutId id="2147483660" r:id="rId4"/>
    <p:sldLayoutId id="2147483661" r:id="rId5"/>
    <p:sldLayoutId id="2147483663" r:id="rId6"/>
  </p:sldLayoutIdLst>
  <p:txStyles>
    <p:titleStyle>
      <a:lvl1pPr algn="ctr" rtl="0" fontAlgn="base" latinLnBrk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59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31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479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63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869" indent="-342869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84" indent="-285725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99" indent="-22858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58" indent="-22858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18" indent="-22858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77" indent="-228580" algn="l" defTabSz="91431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6" indent="-228580" algn="l" defTabSz="91431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6" indent="-228580" algn="l" defTabSz="91431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5" indent="-228580" algn="l" defTabSz="91431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9" algn="l" defTabSz="9143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8" algn="l" defTabSz="9143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7" algn="l" defTabSz="9143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6" algn="l" defTabSz="9143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6" algn="l" defTabSz="9143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6" algn="l" defTabSz="9143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제목 3"/>
          <p:cNvSpPr>
            <a:spLocks noGrp="1"/>
          </p:cNvSpPr>
          <p:nvPr>
            <p:ph type="title"/>
          </p:nvPr>
        </p:nvSpPr>
        <p:spPr bwMode="auto">
          <a:xfrm>
            <a:off x="252048" y="52610"/>
            <a:ext cx="9116903" cy="3693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r>
              <a:rPr lang="en-US" altLang="ko-KR" sz="2400" dirty="0">
                <a:latin typeface="맑은 고딕"/>
                <a:ea typeface="맑은 고딕"/>
                <a:cs typeface="Arial" panose="020B0604020202020204" pitchFamily="34" charset="0"/>
              </a:rPr>
              <a:t>FGD Room A</a:t>
            </a:r>
            <a:endParaRPr sz="14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52344" y="756888"/>
            <a:ext cx="3960440" cy="722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5755" tIns="52878" rIns="105755" bIns="52878">
            <a:spAutoFit/>
          </a:bodyPr>
          <a:lstStyle/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Wingdings" pitchFamily="2" charset="2"/>
              <a:buChar char="l"/>
            </a:pPr>
            <a:r>
              <a:rPr lang="ko-KR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en-US" altLang="ko-KR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One way Mirror </a:t>
            </a:r>
            <a:r>
              <a:rPr lang="ko-KR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룸</a:t>
            </a:r>
            <a:endParaRPr lang="en-US" altLang="ko-KR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en-US" altLang="ko-KR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  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-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초대형 </a:t>
            </a:r>
            <a:r>
              <a:rPr lang="ko-KR" altLang="en-US" sz="12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와이드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미러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,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최대 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30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명까지 수용 가능</a:t>
            </a:r>
            <a:endParaRPr lang="en-US" altLang="ko-KR" sz="12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  -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상단 컷 여성 </a:t>
            </a:r>
            <a:r>
              <a:rPr lang="ko-KR" altLang="en-US" sz="12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컨셉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FGD,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하단 컷 남성 </a:t>
            </a:r>
            <a:r>
              <a:rPr lang="ko-KR" altLang="en-US" sz="12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컨셉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FGD</a:t>
            </a:r>
            <a:endParaRPr lang="ko-KR" altLang="en-US" sz="12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060730" y="733521"/>
            <a:ext cx="5690194" cy="722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5755" tIns="52878" rIns="105755" bIns="52878">
            <a:spAutoFit/>
          </a:bodyPr>
          <a:lstStyle/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Wingdings" pitchFamily="2" charset="2"/>
              <a:buChar char="l"/>
            </a:pPr>
            <a:r>
              <a:rPr lang="ko-KR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클라이언트 룸</a:t>
            </a:r>
            <a:endParaRPr lang="en-US" altLang="ko-KR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en-US" altLang="ko-KR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  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-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자유롭게 이용 가능한 </a:t>
            </a:r>
            <a:r>
              <a:rPr lang="ko-KR" altLang="en-US" sz="12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데스크탑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제공</a:t>
            </a:r>
            <a:endParaRPr lang="en-US" altLang="ko-KR" sz="12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  - </a:t>
            </a:r>
            <a:r>
              <a:rPr lang="ko-KR" altLang="en-US" sz="12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까페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분위기에서 업무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,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회의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,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휴식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,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식사 등 다용도 활용 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90" y="4006988"/>
            <a:ext cx="3578477" cy="238565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91" y="1535610"/>
            <a:ext cx="3578477" cy="238565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774" y="1536375"/>
            <a:ext cx="3578477" cy="238565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599" y="4004098"/>
            <a:ext cx="3578477" cy="2385651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950" y="4014854"/>
            <a:ext cx="1584176" cy="237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09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제목 3"/>
          <p:cNvSpPr>
            <a:spLocks noGrp="1"/>
          </p:cNvSpPr>
          <p:nvPr>
            <p:ph type="title"/>
          </p:nvPr>
        </p:nvSpPr>
        <p:spPr bwMode="auto">
          <a:xfrm>
            <a:off x="252048" y="52611"/>
            <a:ext cx="9116903" cy="3693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r>
              <a:rPr lang="en-US" altLang="ko-KR" sz="2400" dirty="0">
                <a:latin typeface="맑은 고딕"/>
                <a:ea typeface="맑은 고딕"/>
                <a:cs typeface="Arial" panose="020B0604020202020204" pitchFamily="34" charset="0"/>
              </a:rPr>
              <a:t>FGD Room B</a:t>
            </a:r>
            <a:endParaRPr sz="14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18" y="1543506"/>
            <a:ext cx="3424706" cy="238791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950" y="1543506"/>
            <a:ext cx="3424706" cy="2387913"/>
          </a:xfrm>
          <a:prstGeom prst="rect">
            <a:avLst/>
          </a:prstGeom>
        </p:spPr>
      </p:pic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44634" y="788418"/>
            <a:ext cx="2560639" cy="722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5755" tIns="52878" rIns="105755" bIns="52878">
            <a:spAutoFit/>
          </a:bodyPr>
          <a:lstStyle/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Wingdings" pitchFamily="2" charset="2"/>
              <a:buChar char="l"/>
            </a:pPr>
            <a:r>
              <a:rPr lang="ko-KR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en-US" altLang="ko-KR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One way Mirror </a:t>
            </a:r>
            <a:r>
              <a:rPr lang="ko-KR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룸</a:t>
            </a:r>
            <a:endParaRPr lang="en-US" altLang="ko-KR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en-US" altLang="ko-KR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  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-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초대형 </a:t>
            </a:r>
            <a:r>
              <a:rPr lang="ko-KR" altLang="en-US" sz="12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와이드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미러</a:t>
            </a:r>
            <a:endParaRPr lang="en-US" altLang="ko-KR" sz="12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  -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최대 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30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명까지 수용 가능</a:t>
            </a:r>
          </a:p>
        </p:txBody>
      </p:sp>
    </p:spTree>
    <p:extLst>
      <p:ext uri="{BB962C8B-B14F-4D97-AF65-F5344CB8AC3E}">
        <p14:creationId xmlns:p14="http://schemas.microsoft.com/office/powerpoint/2010/main" val="4217515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A2171-6567-5EEC-5698-144CF22B3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제목 3">
            <a:extLst>
              <a:ext uri="{FF2B5EF4-FFF2-40B4-BE49-F238E27FC236}">
                <a16:creationId xmlns:a16="http://schemas.microsoft.com/office/drawing/2014/main" id="{1CBC1358-08D6-ABC3-6C53-41AFB26D0D9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52048" y="52611"/>
            <a:ext cx="9116903" cy="3693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r>
              <a:rPr lang="en-US" altLang="ko-KR" sz="2400" dirty="0">
                <a:latin typeface="맑은 고딕"/>
                <a:ea typeface="맑은 고딕"/>
                <a:cs typeface="Arial" panose="020B0604020202020204" pitchFamily="34" charset="0"/>
              </a:rPr>
              <a:t>CLT Room</a:t>
            </a:r>
            <a:endParaRPr sz="14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BE595-8315-B3AF-E36F-CB0CAE6AD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634" y="788418"/>
            <a:ext cx="2560639" cy="722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5755" tIns="52878" rIns="105755" bIns="52878">
            <a:spAutoFit/>
          </a:bodyPr>
          <a:lstStyle/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Wingdings" pitchFamily="2" charset="2"/>
              <a:buChar char="l"/>
            </a:pPr>
            <a:r>
              <a:rPr lang="ko-KR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en-US" altLang="ko-KR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One way Mirror </a:t>
            </a:r>
            <a:r>
              <a:rPr lang="ko-KR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룸</a:t>
            </a:r>
            <a:endParaRPr lang="en-US" altLang="ko-KR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en-US" altLang="ko-KR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  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-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초대형 </a:t>
            </a:r>
            <a:r>
              <a:rPr lang="ko-KR" altLang="en-US" sz="12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와이드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미러</a:t>
            </a:r>
            <a:endParaRPr lang="en-US" altLang="ko-KR" sz="12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  <a:p>
            <a:pPr defTabSz="1057558" latinLnBrk="0">
              <a:lnSpc>
                <a:spcPts val="1387"/>
              </a:lnSpc>
              <a:spcAft>
                <a:spcPts val="3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   - 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최대 </a:t>
            </a:r>
            <a:r>
              <a:rPr lang="en-US" altLang="ko-KR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30</a:t>
            </a:r>
            <a:r>
              <a:rPr lang="ko-KR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명까지 수용 가능</a:t>
            </a:r>
          </a:p>
        </p:txBody>
      </p:sp>
    </p:spTree>
    <p:extLst>
      <p:ext uri="{BB962C8B-B14F-4D97-AF65-F5344CB8AC3E}">
        <p14:creationId xmlns:p14="http://schemas.microsoft.com/office/powerpoint/2010/main" val="127333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제목 3"/>
          <p:cNvSpPr>
            <a:spLocks noGrp="1"/>
          </p:cNvSpPr>
          <p:nvPr>
            <p:ph type="title"/>
          </p:nvPr>
        </p:nvSpPr>
        <p:spPr bwMode="auto">
          <a:xfrm>
            <a:off x="252048" y="52610"/>
            <a:ext cx="9116903" cy="3693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r>
              <a:rPr lang="en-US" altLang="ko-KR" sz="2400" dirty="0">
                <a:latin typeface="+mn-ea"/>
                <a:ea typeface="+mn-ea"/>
                <a:cs typeface="Arial" panose="020B0604020202020204" pitchFamily="34" charset="0"/>
              </a:rPr>
              <a:t>Kitchen Area</a:t>
            </a:r>
            <a:endParaRPr sz="14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420" y="909067"/>
            <a:ext cx="3950987" cy="266226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32" y="909067"/>
            <a:ext cx="4027305" cy="266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98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제목 3"/>
          <p:cNvSpPr>
            <a:spLocks noGrp="1"/>
          </p:cNvSpPr>
          <p:nvPr>
            <p:ph type="title"/>
          </p:nvPr>
        </p:nvSpPr>
        <p:spPr bwMode="auto">
          <a:xfrm>
            <a:off x="252048" y="60347"/>
            <a:ext cx="9116903" cy="3693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r>
              <a:rPr lang="en-US" altLang="ko-KR" sz="2400" dirty="0">
                <a:latin typeface="+mn-ea"/>
                <a:ea typeface="+mn-ea"/>
                <a:cs typeface="Arial" panose="020B0604020202020204" pitchFamily="34" charset="0"/>
              </a:rPr>
              <a:t>P&amp;S Qualitative Research </a:t>
            </a:r>
            <a:r>
              <a:rPr lang="en-US" altLang="ko-KR" sz="1400" dirty="0">
                <a:latin typeface="+mn-ea"/>
                <a:ea typeface="+mn-ea"/>
                <a:cs typeface="Arial" panose="020B0604020202020204" pitchFamily="34" charset="0"/>
              </a:rPr>
              <a:t>- </a:t>
            </a:r>
            <a:r>
              <a:rPr lang="ko-KR" altLang="en-US" sz="1400" dirty="0">
                <a:latin typeface="+mn-ea"/>
                <a:ea typeface="+mn-ea"/>
                <a:cs typeface="Arial" panose="020B0604020202020204" pitchFamily="34" charset="0"/>
              </a:rPr>
              <a:t>강남 시설 </a:t>
            </a:r>
            <a:r>
              <a:rPr lang="en-US" altLang="ko-KR" sz="1400" dirty="0">
                <a:latin typeface="+mn-ea"/>
                <a:ea typeface="+mn-ea"/>
                <a:cs typeface="Arial" panose="020B0604020202020204" pitchFamily="34" charset="0"/>
              </a:rPr>
              <a:t>(</a:t>
            </a:r>
            <a:r>
              <a:rPr lang="ko-KR" altLang="en-US" sz="1400" dirty="0">
                <a:latin typeface="+mn-ea"/>
                <a:ea typeface="+mn-ea"/>
                <a:cs typeface="Arial" panose="020B0604020202020204" pitchFamily="34" charset="0"/>
              </a:rPr>
              <a:t>위치</a:t>
            </a:r>
            <a:r>
              <a:rPr lang="en-US" altLang="ko-KR" sz="1400" dirty="0">
                <a:latin typeface="+mn-ea"/>
                <a:ea typeface="+mn-ea"/>
                <a:cs typeface="Arial" panose="020B0604020202020204" pitchFamily="34" charset="0"/>
              </a:rPr>
              <a:t>)</a:t>
            </a:r>
            <a:endParaRPr sz="14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Oval 32"/>
          <p:cNvSpPr>
            <a:spLocks noChangeArrowheads="1"/>
          </p:cNvSpPr>
          <p:nvPr/>
        </p:nvSpPr>
        <p:spPr bwMode="auto">
          <a:xfrm>
            <a:off x="-2541141" y="5427219"/>
            <a:ext cx="2211228" cy="1276844"/>
          </a:xfrm>
          <a:prstGeom prst="ellipse">
            <a:avLst/>
          </a:prstGeom>
          <a:noFill/>
          <a:ln w="19050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fontAlgn="base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 b="1" kern="0" dirty="0">
              <a:solidFill>
                <a:srgbClr val="8F8FBF">
                  <a:lumMod val="75000"/>
                </a:srgbClr>
              </a:solidFill>
              <a:latin typeface="Calibri" pitchFamily="34" charset="0"/>
            </a:endParaRPr>
          </a:p>
        </p:txBody>
      </p:sp>
      <p:sp>
        <p:nvSpPr>
          <p:cNvPr id="19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68290" y="712529"/>
            <a:ext cx="9170986" cy="754053"/>
          </a:xfrm>
          <a:solidFill>
            <a:schemeClr val="bg1"/>
          </a:solidFill>
        </p:spPr>
        <p:txBody>
          <a:bodyPr/>
          <a:lstStyle/>
          <a:p>
            <a:pPr marL="0" indent="0" fontAlgn="ctr" latinLnBrk="0">
              <a:spcAft>
                <a:spcPts val="300"/>
              </a:spcAft>
              <a:buClr>
                <a:schemeClr val="bg1">
                  <a:lumMod val="75000"/>
                </a:schemeClr>
              </a:buClr>
              <a:buSzPct val="100000"/>
              <a:buNone/>
              <a:defRPr/>
            </a:pPr>
            <a:r>
              <a:rPr lang="en-US" altLang="ko-KR" sz="1600" dirty="0">
                <a:solidFill>
                  <a:srgbClr val="336699"/>
                </a:solidFill>
                <a:latin typeface="+mj-ea"/>
                <a:ea typeface="+mj-ea"/>
              </a:rPr>
              <a:t>7</a:t>
            </a:r>
            <a:r>
              <a:rPr lang="ko-KR" altLang="en-US" sz="1600" dirty="0">
                <a:solidFill>
                  <a:srgbClr val="336699"/>
                </a:solidFill>
                <a:latin typeface="+mj-ea"/>
                <a:ea typeface="+mj-ea"/>
              </a:rPr>
              <a:t>호선 </a:t>
            </a:r>
            <a:r>
              <a:rPr lang="ko-KR" altLang="en-US" sz="1600" dirty="0" err="1">
                <a:solidFill>
                  <a:srgbClr val="336699"/>
                </a:solidFill>
                <a:latin typeface="+mj-ea"/>
                <a:ea typeface="+mj-ea"/>
              </a:rPr>
              <a:t>학동역</a:t>
            </a:r>
            <a:r>
              <a:rPr lang="ko-KR" altLang="en-US" sz="1600" dirty="0">
                <a:solidFill>
                  <a:srgbClr val="336699"/>
                </a:solidFill>
                <a:latin typeface="+mj-ea"/>
                <a:ea typeface="+mj-ea"/>
              </a:rPr>
              <a:t> </a:t>
            </a:r>
            <a:r>
              <a:rPr lang="en-US" altLang="ko-KR" sz="1600" dirty="0">
                <a:solidFill>
                  <a:srgbClr val="336699"/>
                </a:solidFill>
                <a:latin typeface="+mj-ea"/>
                <a:ea typeface="+mj-ea"/>
              </a:rPr>
              <a:t>3</a:t>
            </a:r>
            <a:r>
              <a:rPr lang="ko-KR" altLang="en-US" sz="1600" dirty="0">
                <a:solidFill>
                  <a:srgbClr val="336699"/>
                </a:solidFill>
                <a:latin typeface="+mj-ea"/>
                <a:ea typeface="+mj-ea"/>
              </a:rPr>
              <a:t>번 출구 </a:t>
            </a:r>
            <a:r>
              <a:rPr lang="en-US" altLang="ko-KR" sz="1600" dirty="0">
                <a:solidFill>
                  <a:srgbClr val="336699"/>
                </a:solidFill>
                <a:latin typeface="+mj-ea"/>
                <a:ea typeface="+mj-ea"/>
              </a:rPr>
              <a:t>50m </a:t>
            </a:r>
            <a:r>
              <a:rPr lang="ko-KR" altLang="en-US" sz="1600" dirty="0">
                <a:solidFill>
                  <a:srgbClr val="336699"/>
                </a:solidFill>
                <a:latin typeface="+mj-ea"/>
                <a:ea typeface="+mj-ea"/>
              </a:rPr>
              <a:t>직진 </a:t>
            </a:r>
            <a:r>
              <a:rPr lang="ko-KR" altLang="en-US" sz="1600" dirty="0" err="1">
                <a:solidFill>
                  <a:srgbClr val="336699"/>
                </a:solidFill>
                <a:latin typeface="+mj-ea"/>
                <a:ea typeface="+mj-ea"/>
              </a:rPr>
              <a:t>강남차병원</a:t>
            </a:r>
            <a:r>
              <a:rPr lang="en-US" altLang="ko-KR" sz="1600" dirty="0">
                <a:solidFill>
                  <a:srgbClr val="336699"/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rgbClr val="336699"/>
                </a:solidFill>
                <a:latin typeface="+mj-ea"/>
                <a:ea typeface="+mj-ea"/>
              </a:rPr>
              <a:t>방향 </a:t>
            </a:r>
            <a:r>
              <a:rPr lang="en-US" altLang="ko-KR" sz="1600" dirty="0">
                <a:solidFill>
                  <a:srgbClr val="336699"/>
                </a:solidFill>
                <a:latin typeface="+mj-ea"/>
                <a:ea typeface="+mj-ea"/>
              </a:rPr>
              <a:t>3</a:t>
            </a:r>
            <a:r>
              <a:rPr lang="ko-KR" altLang="en-US" sz="1600" dirty="0">
                <a:solidFill>
                  <a:srgbClr val="336699"/>
                </a:solidFill>
                <a:latin typeface="+mj-ea"/>
                <a:ea typeface="+mj-ea"/>
              </a:rPr>
              <a:t>분 거리</a:t>
            </a:r>
          </a:p>
          <a:p>
            <a:pPr marL="266676" indent="-266676" fontAlgn="ctr" latinLnBrk="0">
              <a:spcAft>
                <a:spcPts val="300"/>
              </a:spcAft>
              <a:buClr>
                <a:schemeClr val="bg1">
                  <a:lumMod val="75000"/>
                </a:schemeClr>
              </a:buClr>
              <a:buSzPct val="100000"/>
              <a:buFont typeface="Wingdings 2" pitchFamily="18" charset="2"/>
              <a:buChar char=""/>
              <a:defRPr/>
            </a:pPr>
            <a:r>
              <a:rPr lang="ko-KR" altLang="en-US" dirty="0">
                <a:latin typeface="+mj-ea"/>
                <a:ea typeface="+mj-ea"/>
              </a:rPr>
              <a:t>주차는 건물 우측 뒤에 있으며</a:t>
            </a:r>
            <a:r>
              <a:rPr lang="en-US" altLang="ko-KR" dirty="0">
                <a:latin typeface="+mj-ea"/>
                <a:ea typeface="+mj-ea"/>
              </a:rPr>
              <a:t>, 5, 6</a:t>
            </a:r>
            <a:r>
              <a:rPr lang="ko-KR" altLang="en-US" dirty="0">
                <a:latin typeface="+mj-ea"/>
                <a:ea typeface="+mj-ea"/>
              </a:rPr>
              <a:t>층 전용주차공간에 주차하시기 바랍니다</a:t>
            </a:r>
            <a:r>
              <a:rPr lang="en-US" altLang="ko-KR" dirty="0">
                <a:latin typeface="+mj-ea"/>
                <a:ea typeface="+mj-ea"/>
              </a:rPr>
              <a:t>. (T 749-7871)</a:t>
            </a:r>
          </a:p>
          <a:p>
            <a:pPr marL="266676" indent="-266676" fontAlgn="ctr" latinLnBrk="0">
              <a:spcAft>
                <a:spcPts val="300"/>
              </a:spcAft>
              <a:buClr>
                <a:schemeClr val="bg1">
                  <a:lumMod val="75000"/>
                </a:schemeClr>
              </a:buClr>
              <a:buSzPct val="100000"/>
              <a:buFont typeface="Wingdings 2" pitchFamily="18" charset="2"/>
              <a:buChar char=""/>
              <a:defRPr/>
            </a:pPr>
            <a:r>
              <a:rPr lang="ko-KR" altLang="en-US" dirty="0">
                <a:latin typeface="+mj-ea"/>
                <a:ea typeface="+mj-ea"/>
              </a:rPr>
              <a:t>주차하신 후 주차장과 연결된 </a:t>
            </a:r>
            <a:r>
              <a:rPr lang="en-US" altLang="ko-KR" dirty="0">
                <a:latin typeface="+mj-ea"/>
                <a:ea typeface="+mj-ea"/>
              </a:rPr>
              <a:t>2</a:t>
            </a:r>
            <a:r>
              <a:rPr lang="ko-KR" altLang="en-US" dirty="0">
                <a:latin typeface="+mj-ea"/>
                <a:ea typeface="+mj-ea"/>
              </a:rPr>
              <a:t>층 엘리베이터 이용하시면 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pic>
        <p:nvPicPr>
          <p:cNvPr id="6" name="그림 5" descr="약도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13220" y="1760356"/>
            <a:ext cx="6038317" cy="435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79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" y="2"/>
            <a:ext cx="9648950" cy="6570663"/>
          </a:xfrm>
          <a:prstGeom prst="rect">
            <a:avLst/>
          </a:prstGeom>
        </p:spPr>
      </p:pic>
      <p:sp>
        <p:nvSpPr>
          <p:cNvPr id="5" name="Text Box 66"/>
          <p:cNvSpPr txBox="1">
            <a:spLocks noChangeArrowheads="1"/>
          </p:cNvSpPr>
          <p:nvPr/>
        </p:nvSpPr>
        <p:spPr bwMode="auto">
          <a:xfrm>
            <a:off x="782850" y="6248170"/>
            <a:ext cx="9644130" cy="293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6" rIns="91432" bIns="45716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㈜</a:t>
            </a:r>
            <a:r>
              <a:rPr lang="ko-KR" altLang="en-US" sz="1000" dirty="0" err="1">
                <a:solidFill>
                  <a:srgbClr val="000000"/>
                </a:solidFill>
                <a:latin typeface="+mn-ea"/>
                <a:ea typeface="+mn-ea"/>
              </a:rPr>
              <a:t>피앤에스정성리서치</a:t>
            </a: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, 06105 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서울시 강남구 </a:t>
            </a:r>
            <a:r>
              <a:rPr lang="ko-KR" altLang="en-US" sz="1000" dirty="0" err="1">
                <a:solidFill>
                  <a:srgbClr val="000000"/>
                </a:solidFill>
                <a:latin typeface="+mn-ea"/>
                <a:ea typeface="+mn-ea"/>
              </a:rPr>
              <a:t>논현로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654 </a:t>
            </a:r>
            <a:r>
              <a:rPr lang="ko-KR" altLang="en-US" sz="1000" dirty="0" err="1">
                <a:solidFill>
                  <a:srgbClr val="000000"/>
                </a:solidFill>
                <a:latin typeface="+mn-ea"/>
                <a:ea typeface="+mn-ea"/>
              </a:rPr>
              <a:t>불노빌딩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5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층</a:t>
            </a: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, Tel 02-749-7870, Fax 02-795-8809, Mail ms.jeong@pnsresearch.co.kr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3" t="23149" r="57535" b="71288"/>
          <a:stretch/>
        </p:blipFill>
        <p:spPr>
          <a:xfrm>
            <a:off x="8756868" y="5826632"/>
            <a:ext cx="850040" cy="28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9815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사용자 지정 5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B6AA3"/>
      </a:accent1>
      <a:accent2>
        <a:srgbClr val="4EBFCE"/>
      </a:accent2>
      <a:accent3>
        <a:srgbClr val="6EC082"/>
      </a:accent3>
      <a:accent4>
        <a:srgbClr val="EED072"/>
      </a:accent4>
      <a:accent5>
        <a:srgbClr val="F47264"/>
      </a:accent5>
      <a:accent6>
        <a:srgbClr val="8F8FBF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45310</TotalTime>
  <Words>177</Words>
  <Application>Microsoft Office PowerPoint</Application>
  <PresentationFormat>사용자 지정</PresentationFormat>
  <Paragraphs>21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나눔고딕</vt:lpstr>
      <vt:lpstr>맑은 고딕</vt:lpstr>
      <vt:lpstr>Arial</vt:lpstr>
      <vt:lpstr>Calibri</vt:lpstr>
      <vt:lpstr>Wingdings</vt:lpstr>
      <vt:lpstr>Wingdings 2</vt:lpstr>
      <vt:lpstr>Blank</vt:lpstr>
      <vt:lpstr>FGD Room A</vt:lpstr>
      <vt:lpstr>FGD Room B</vt:lpstr>
      <vt:lpstr>CLT Room</vt:lpstr>
      <vt:lpstr>Kitchen Area</vt:lpstr>
      <vt:lpstr>P&amp;S Qualitative Research - 강남 시설 (위치)</vt:lpstr>
      <vt:lpstr>PowerPoint 프레젠테이션</vt:lpstr>
    </vt:vector>
  </TitlesOfParts>
  <Company>...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손승희</dc:creator>
  <cp:lastModifiedBy>Jay Ahn</cp:lastModifiedBy>
  <cp:revision>4972</cp:revision>
  <cp:lastPrinted>2015-02-23T03:44:24Z</cp:lastPrinted>
  <dcterms:created xsi:type="dcterms:W3CDTF">2013-01-22T05:35:10Z</dcterms:created>
  <dcterms:modified xsi:type="dcterms:W3CDTF">2026-06-24T05:50:54Z</dcterms:modified>
</cp:coreProperties>
</file>